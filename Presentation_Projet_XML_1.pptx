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DARK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645920"/>
            <a:ext cx="4572000" cy="4572000"/>
          </a:xfrm>
          <a:prstGeom prst="ellipse">
            <a:avLst/>
          </a:prstGeom>
          <a:solidFill>
            <a:srgbClr val="111C33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111C33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051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96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&lt;Java/&gt;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1737360"/>
            <a:ext cx="9601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Générateur de code Java</a:t>
            </a:r>
            <a:endParaRPr lang="en-US" sz="4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partir de schémas XML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703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8C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Mini-projet — Module XML — Master 2 GLSi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École Supérieure Polytechnique de Dakar (ESP-UCAD)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4709160"/>
            <a:ext cx="2926080" cy="0"/>
          </a:xfrm>
          <a:prstGeom prst="line">
            <a:avLst/>
          </a:prstGeom>
          <a:noFill/>
          <a:ln w="19050">
            <a:solidFill>
              <a:srgbClr val="C9962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892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962C"/>
                </a:solidFill>
              </a:rPr>
              <a:t>ÉQUIPE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521208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 Moussa Diongue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703320" y="521208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Papa Amady Diallo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2960" y="5522976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Koumba Samb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703320" y="5522976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Assane Mbaye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22960" y="583387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Ndeye Fatou Mbow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703320" y="583387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Aicha Dalloba Savane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897112" y="63550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592A8"/>
                </a:solidFill>
              </a:rPr>
              <a:t>Présentation du 11 juillet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</a:rPr>
              <a:t>Le problème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2"/>
                </a:solidFill>
              </a:rPr>
              <a:t>Pourquoi construire ce générateur 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6035040" cy="4206240"/>
          </a:xfrm>
          <a:prstGeom prst="roundRect">
            <a:avLst>
              <a:gd name="adj" fmla="val 2609"/>
            </a:avLst>
          </a:prstGeom>
          <a:solidFill>
            <a:srgbClr val="F7F7F5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965960"/>
            <a:ext cx="54864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A3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certains projets, on est contraint de manipuler uniquement du Java :
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A3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obligations techniques du projet
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A3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manque de compétences XML dans l'équipe
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A3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volonté d'éviter XSLT ou un autre dialecte XML
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A3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: générer automatiquement, à partir d'un schéma XSD, des classes Java qui permettent de créer, manipuler et sauvegarder des données XML — sans écrire une seule ligne de XML soi-même.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12280" y="1691640"/>
            <a:ext cx="4709160" cy="4206240"/>
          </a:xfrm>
          <a:prstGeom prst="roundRect">
            <a:avLst>
              <a:gd name="adj" fmla="val 2609"/>
            </a:avLst>
          </a:prstGeom>
          <a:solidFill>
            <a:srgbClr val="10182B"/>
          </a:solidFill>
          <a:ln/>
        </p:spPr>
      </p:sp>
      <p:sp>
        <p:nvSpPr>
          <p:cNvPr id="7" name="Text 5"/>
          <p:cNvSpPr/>
          <p:nvPr/>
        </p:nvSpPr>
        <p:spPr>
          <a:xfrm>
            <a:off x="7086600" y="187452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9962C"/>
                </a:solidFill>
              </a:rPr>
              <a:t>CE QU'ON VEUT POUVOIR ÉCRIRE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086600" y="2286000"/>
            <a:ext cx="41605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8FD1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Livre livre = new Livre();
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livre.setTitre(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E8C7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"toto"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
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livre.setAuteur(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E8C7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"titi"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
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livre.setEditeur(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E8C7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"tutu"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
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8FD1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Bibliotheque biblio =
    new Bibliotheque();
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biblio.getLivres().add(livre);
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biblio.save(); </a:t>
            </a:r>
            <a:pPr indent="0" marL="0">
              <a:lnSpc>
                <a:spcPct val="135000"/>
              </a:lnSpc>
              <a:buNone/>
            </a:pPr>
            <a:r>
              <a:rPr lang="en-US" sz="1250" i="1" dirty="0">
                <a:solidFill>
                  <a:srgbClr val="6B7A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→ fichier XML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Générateur de code Java à partir de schémas XML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902952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</a:rPr>
              <a:t>L'exemple imposé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2"/>
                </a:solidFill>
              </a:rPr>
              <a:t>Un schéma XSD « bibliothèque / livre »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94960" cy="4160520"/>
          </a:xfrm>
          <a:prstGeom prst="roundRect">
            <a:avLst>
              <a:gd name="adj" fmla="val 2637"/>
            </a:avLst>
          </a:prstGeom>
          <a:solidFill>
            <a:srgbClr val="F7F7F5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20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9962C"/>
                </a:solidFill>
              </a:rPr>
              <a:t>STRUCTURE DU SCHÉMA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377440" y="233172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E8C77A"/>
          </a:solidFill>
          <a:ln w="9525">
            <a:solidFill>
              <a:srgbClr val="1B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77440" y="23317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A"/>
                </a:solidFill>
              </a:rPr>
              <a:t>bibliotheque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377440" y="2843784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B6472"/>
                </a:solidFill>
              </a:rPr>
              <a:t>racine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91840" y="3072384"/>
            <a:ext cx="0" cy="128016"/>
          </a:xfrm>
          <a:prstGeom prst="line">
            <a:avLst/>
          </a:prstGeom>
          <a:noFill/>
          <a:ln w="12700">
            <a:solidFill>
              <a:srgbClr val="5B647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94560" y="3200400"/>
            <a:ext cx="21945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1B2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94560" y="320040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A"/>
                </a:solidFill>
              </a:rPr>
              <a:t>livre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194560" y="3712464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B6472"/>
                </a:solidFill>
              </a:rPr>
              <a:t>maxOccurs="unbounded"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743200" y="3941064"/>
            <a:ext cx="-822960" cy="100584"/>
          </a:xfrm>
          <a:prstGeom prst="line">
            <a:avLst/>
          </a:prstGeom>
          <a:noFill/>
          <a:ln w="12700">
            <a:solidFill>
              <a:srgbClr val="5B647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91840" y="3941064"/>
            <a:ext cx="0" cy="100584"/>
          </a:xfrm>
          <a:prstGeom prst="line">
            <a:avLst/>
          </a:prstGeom>
          <a:noFill/>
          <a:ln w="12700">
            <a:solidFill>
              <a:srgbClr val="5B647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91840" y="3941064"/>
            <a:ext cx="822960" cy="100584"/>
          </a:xfrm>
          <a:prstGeom prst="line">
            <a:avLst/>
          </a:prstGeom>
          <a:noFill/>
          <a:ln w="12700">
            <a:solidFill>
              <a:srgbClr val="5B647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0120" y="4041648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404164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A"/>
                </a:solidFill>
              </a:rPr>
              <a:t>titre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60120" y="4553712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B6472"/>
                </a:solidFill>
              </a:rPr>
              <a:t>xs:string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606040" y="4041648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1B2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06040" y="404164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A"/>
                </a:solidFill>
              </a:rPr>
              <a:t>auteur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2606040" y="4553712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B6472"/>
                </a:solidFill>
              </a:rPr>
              <a:t>xs:string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251960" y="4041648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1B2A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51960" y="404164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A"/>
                </a:solidFill>
              </a:rPr>
              <a:t>editeur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251960" y="4553712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B6472"/>
                </a:solidFill>
              </a:rPr>
              <a:t>xs:string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914400" y="507492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2A3242"/>
                </a:solidFill>
              </a:rPr>
              <a:t>Chaque livre a un titre, un auteur et un éditeur (types simples). Une bibliothèque contient une liste de livres (élément répétable).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63640" y="1737360"/>
            <a:ext cx="5257800" cy="4160520"/>
          </a:xfrm>
          <a:prstGeom prst="roundRect">
            <a:avLst>
              <a:gd name="adj" fmla="val 2637"/>
            </a:avLst>
          </a:prstGeom>
          <a:solidFill>
            <a:srgbClr val="10182B"/>
          </a:solidFill>
          <a:ln/>
        </p:spPr>
      </p:sp>
      <p:sp>
        <p:nvSpPr>
          <p:cNvPr id="27" name="Text 25"/>
          <p:cNvSpPr/>
          <p:nvPr/>
        </p:nvSpPr>
        <p:spPr>
          <a:xfrm>
            <a:off x="6537960" y="1920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9962C"/>
                </a:solidFill>
              </a:rPr>
              <a:t>FICHIER XML INSTANCE ATTENDU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537960" y="2286000"/>
            <a:ext cx="47548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AB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&lt;bibliotheque&gt;
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AB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&lt;livre&gt;
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AB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&lt;titre&gt;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FD1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titre 1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AB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&lt;/titre&gt;
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AB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&lt;auteur&gt;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FD1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auteur 1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AB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&lt;/auteur&gt;
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AB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&lt;editeur&gt;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FD1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editeur 1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AB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&lt;/editeur&gt;
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AB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&lt;/livre&gt;
</a:t>
            </a:r>
            <a:pPr indent="0" marL="0">
              <a:lnSpc>
                <a:spcPct val="140000"/>
              </a:lnSpc>
              <a:buNone/>
            </a:pPr>
            <a:r>
              <a:rPr lang="en-US" sz="1300" i="1" dirty="0">
                <a:solidFill>
                  <a:srgbClr val="6B7A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&lt;livre&gt; ... &lt;/livre&gt;
</a:t>
            </a:r>
            <a:pPr indent="0" marL="0">
              <a:lnSpc>
                <a:spcPct val="140000"/>
              </a:lnSpc>
              <a:buNone/>
            </a:pPr>
            <a:r>
              <a:rPr lang="en-US" sz="1300" i="1" dirty="0">
                <a:solidFill>
                  <a:srgbClr val="6B7A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&lt;livre&gt; ... &lt;/livre&gt;
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AB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&lt;/bibliotheque&gt;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Générateur de code Java à partir de schémas XML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902952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</a:rPr>
              <a:t>Notre démarche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2"/>
                </a:solidFill>
              </a:rPr>
              <a:t>Trois étapes, du schéma XSD au fichier XML validé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401568" cy="3566160"/>
          </a:xfrm>
          <a:prstGeom prst="roundRect">
            <a:avLst>
              <a:gd name="adj" fmla="val 3226"/>
            </a:avLst>
          </a:prstGeom>
          <a:solidFill>
            <a:srgbClr val="F7F7F5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24028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40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962C"/>
                </a:solidFill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3063240"/>
            <a:ext cx="285292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</a:rPr>
              <a:t>Règles de correspondance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749040"/>
            <a:ext cx="2852928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A3242"/>
                </a:solidFill>
              </a:rPr>
              <a:t>Définir comment chaque concept XSD (élément, type complexe, type simple, séquence, répétition) se traduit en Java.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059936" y="3474720"/>
            <a:ext cx="2194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962C"/>
                </a:solidFill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297680" y="1965960"/>
            <a:ext cx="3401568" cy="3566160"/>
          </a:xfrm>
          <a:prstGeom prst="roundRect">
            <a:avLst>
              <a:gd name="adj" fmla="val 3226"/>
            </a:avLst>
          </a:prstGeom>
          <a:solidFill>
            <a:srgbClr val="F7F7F5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224028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2240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962C"/>
                </a:solidFill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72000" y="3063240"/>
            <a:ext cx="285292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</a:rPr>
              <a:t>Le générateur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0" y="3749040"/>
            <a:ext cx="2852928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A3242"/>
                </a:solidFill>
              </a:rPr>
              <a:t>Écrire un programme Java qui lit un fichier .xsd et écrit automatiquement les fichiers .java correspondants.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717536" y="3474720"/>
            <a:ext cx="2194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962C"/>
                </a:solidFill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955280" y="1965960"/>
            <a:ext cx="3401568" cy="3566160"/>
          </a:xfrm>
          <a:prstGeom prst="roundRect">
            <a:avLst>
              <a:gd name="adj" fmla="val 3226"/>
            </a:avLst>
          </a:prstGeom>
          <a:solidFill>
            <a:srgbClr val="F7F7F5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0" y="224028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0" y="2240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962C"/>
                </a:solidFill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229600" y="3063240"/>
            <a:ext cx="285292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</a:rPr>
              <a:t>Le test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29600" y="3749040"/>
            <a:ext cx="2852928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A3242"/>
                </a:solidFill>
              </a:rPr>
              <a:t>Utiliser le code généré pour recréer le fichier XML instance du sujet, puis valider ce fichier par rapport au schéma XSD.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Générateur de code Java à partir de schémas XML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902952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</a:rPr>
              <a:t>Règles de correspondance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3268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2"/>
                </a:solidFill>
              </a:rPr>
              <a:t>XSD → Java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1155680" cy="548640"/>
          </a:xfrm>
          <a:prstGeom prst="rect">
            <a:avLst/>
          </a:prstGeom>
          <a:solidFill>
            <a:srgbClr val="1B2A4A"/>
          </a:solidFill>
          <a:ln w="6350">
            <a:solidFill>
              <a:srgbClr val="E7E9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55448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XSD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46520" y="155448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Concept Java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103120"/>
            <a:ext cx="111556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7E9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10312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xs:element + xs:complexType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46520" y="210312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3242"/>
                </a:solidFill>
              </a:rPr>
              <a:t>Classe Java (nom capitalisé)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2651760"/>
            <a:ext cx="11155680" cy="548640"/>
          </a:xfrm>
          <a:prstGeom prst="rect">
            <a:avLst/>
          </a:prstGeom>
          <a:solidFill>
            <a:srgbClr val="F7F7F5"/>
          </a:solidFill>
          <a:ln w="6350">
            <a:solidFill>
              <a:srgbClr val="E7E9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65176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xs:element type="xs:..." (feuille)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46520" y="265176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3242"/>
                </a:solidFill>
              </a:rPr>
              <a:t>Attribut privé typé + getter/setter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3200400"/>
            <a:ext cx="111556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7E9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20040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xs:sequence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46520" y="320040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3242"/>
                </a:solidFill>
              </a:rPr>
              <a:t>Ordre des attributs déclarés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749040"/>
            <a:ext cx="11155680" cy="548640"/>
          </a:xfrm>
          <a:prstGeom prst="rect">
            <a:avLst/>
          </a:prstGeom>
          <a:solidFill>
            <a:srgbClr val="F7F7F5"/>
          </a:solidFill>
          <a:ln w="6350">
            <a:solidFill>
              <a:srgbClr val="E7E9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74904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xs:element ref="X" maxOccurs="unbounded"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46520" y="374904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3242"/>
                </a:solidFill>
              </a:rPr>
              <a:t>List&lt;X&gt; + un seul getter (ajout via .add())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4297680"/>
            <a:ext cx="111556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7E9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429768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xs:string / xs:int / xs:boolean / xs:double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446520" y="429768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3242"/>
                </a:solidFill>
              </a:rPr>
              <a:t>String / int / boolean / double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4846320"/>
            <a:ext cx="11155680" cy="548640"/>
          </a:xfrm>
          <a:prstGeom prst="rect">
            <a:avLst/>
          </a:prstGeom>
          <a:solidFill>
            <a:srgbClr val="F7F7F5"/>
          </a:solidFill>
          <a:ln w="6350">
            <a:solidFill>
              <a:srgbClr val="E7E9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484632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Élément racine du schéma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446520" y="484632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3242"/>
                </a:solidFill>
              </a:rPr>
              <a:t>Classe avec méthode save(String chemin)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0080" y="5504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2"/>
                </a:solidFill>
              </a:rPr>
              <a:t>Limites volontaires : pas de xs:choice ni xs:all, pas de xs:attribute, pas d'héritage de types complexes (hors périmètre du sujet).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Générateur de code Java à partir de schémas XML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902952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Architecture du générateur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C77A"/>
                </a:solidFill>
              </a:rPr>
              <a:t>Quatre briques, aucune bibliothèque externe (uniquement l'API DOM du JDK)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111C33"/>
          </a:solidFill>
          <a:ln w="12700">
            <a:solidFill>
              <a:srgbClr val="2E3E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1031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C9962C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C33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74320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XsdParser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68680" y="320040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7CEDB"/>
                </a:solidFill>
              </a:rPr>
              <a:t>Lit le .xsd (API DOM) et construit un arbre XsdElement.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55264" y="2788920"/>
            <a:ext cx="210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962C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474720" y="182880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111C33"/>
          </a:solidFill>
          <a:ln w="12700">
            <a:solidFill>
              <a:srgbClr val="2E3E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03320" y="21031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C9962C"/>
          </a:solidFill>
          <a:ln/>
        </p:spPr>
      </p:sp>
      <p:sp>
        <p:nvSpPr>
          <p:cNvPr id="12" name="Text 10"/>
          <p:cNvSpPr/>
          <p:nvPr/>
        </p:nvSpPr>
        <p:spPr>
          <a:xfrm>
            <a:off x="3703320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C33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703320" y="274320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JavaTypeMapper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703320" y="320040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7CEDB"/>
                </a:solidFill>
              </a:rPr>
              <a:t>Table de correspondance types XSD → types Java.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089904" y="2788920"/>
            <a:ext cx="210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962C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309360" y="182880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111C33"/>
          </a:solidFill>
          <a:ln w="12700">
            <a:solidFill>
              <a:srgbClr val="2E3E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37960" y="21031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C9962C"/>
          </a:solidFill>
          <a:ln/>
        </p:spPr>
      </p:sp>
      <p:sp>
        <p:nvSpPr>
          <p:cNvPr id="18" name="Text 16"/>
          <p:cNvSpPr/>
          <p:nvPr/>
        </p:nvSpPr>
        <p:spPr>
          <a:xfrm>
            <a:off x="6537960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C33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37960" y="274320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JavaCodeGenerator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537960" y="320040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7CEDB"/>
                </a:solidFill>
              </a:rPr>
              <a:t>Parcourt l'arbre et écrit les fichiers .java (attributs, getters/setters, sérialisation).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924544" y="2788920"/>
            <a:ext cx="210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962C"/>
                </a:solidFill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144000" y="182880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111C33"/>
          </a:solidFill>
          <a:ln w="12700">
            <a:solidFill>
              <a:srgbClr val="2E3E5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372600" y="21031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C9962C"/>
          </a:solidFill>
          <a:ln/>
        </p:spPr>
      </p:sp>
      <p:sp>
        <p:nvSpPr>
          <p:cNvPr id="24" name="Text 22"/>
          <p:cNvSpPr/>
          <p:nvPr/>
        </p:nvSpPr>
        <p:spPr>
          <a:xfrm>
            <a:off x="9372600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C33"/>
                </a:solidFill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372600" y="274320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xsdgen.runtime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9372600" y="320040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7CEDB"/>
                </a:solidFill>
              </a:rPr>
              <a:t>XmlNode + XmlSerializer : socle partagé par toutes les classes générées.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" y="4526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CE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xsdgen.Main : point d'entrée CLI — java xsdgen.Main &lt;xsd&gt; &lt;racine&gt; &lt;dossierSortie&gt; &lt;package&gt;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40080" y="5120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9962C"/>
                </a:solidFill>
              </a:rPr>
              <a:t>PIPELINE COMPLET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" y="5486400"/>
            <a:ext cx="1691640" cy="548640"/>
          </a:xfrm>
          <a:prstGeom prst="roundRect">
            <a:avLst>
              <a:gd name="adj" fmla="val 50000"/>
            </a:avLst>
          </a:prstGeom>
          <a:solidFill>
            <a:srgbClr val="24314F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548640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XSD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331720" y="5486400"/>
            <a:ext cx="164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962C"/>
                </a:solidFill>
              </a:rPr>
              <a:t>→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496312" y="5486400"/>
            <a:ext cx="1691640" cy="548640"/>
          </a:xfrm>
          <a:prstGeom prst="roundRect">
            <a:avLst>
              <a:gd name="adj" fmla="val 50000"/>
            </a:avLst>
          </a:prstGeom>
          <a:solidFill>
            <a:srgbClr val="24314F"/>
          </a:solidFill>
          <a:ln/>
        </p:spPr>
      </p:sp>
      <p:sp>
        <p:nvSpPr>
          <p:cNvPr id="33" name="Text 31"/>
          <p:cNvSpPr/>
          <p:nvPr/>
        </p:nvSpPr>
        <p:spPr>
          <a:xfrm>
            <a:off x="2496312" y="548640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Arbre XsdElement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187952" y="5486400"/>
            <a:ext cx="164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962C"/>
                </a:solidFill>
              </a:rPr>
              <a:t>→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352544" y="5486400"/>
            <a:ext cx="1691640" cy="548640"/>
          </a:xfrm>
          <a:prstGeom prst="roundRect">
            <a:avLst>
              <a:gd name="adj" fmla="val 50000"/>
            </a:avLst>
          </a:prstGeom>
          <a:solidFill>
            <a:srgbClr val="24314F"/>
          </a:solidFill>
          <a:ln/>
        </p:spPr>
      </p:sp>
      <p:sp>
        <p:nvSpPr>
          <p:cNvPr id="36" name="Text 34"/>
          <p:cNvSpPr/>
          <p:nvPr/>
        </p:nvSpPr>
        <p:spPr>
          <a:xfrm>
            <a:off x="4352544" y="548640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Fichiers .java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044184" y="5486400"/>
            <a:ext cx="164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962C"/>
                </a:solidFill>
              </a:rPr>
              <a:t>→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208776" y="5486400"/>
            <a:ext cx="1691640" cy="548640"/>
          </a:xfrm>
          <a:prstGeom prst="roundRect">
            <a:avLst>
              <a:gd name="adj" fmla="val 50000"/>
            </a:avLst>
          </a:prstGeom>
          <a:solidFill>
            <a:srgbClr val="24314F"/>
          </a:solidFill>
          <a:ln/>
        </p:spPr>
      </p:sp>
      <p:sp>
        <p:nvSpPr>
          <p:cNvPr id="39" name="Text 37"/>
          <p:cNvSpPr/>
          <p:nvPr/>
        </p:nvSpPr>
        <p:spPr>
          <a:xfrm>
            <a:off x="6208776" y="548640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Objets Java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900416" y="5486400"/>
            <a:ext cx="164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962C"/>
                </a:solidFill>
              </a:rPr>
              <a:t>→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8065008" y="5486400"/>
            <a:ext cx="1691640" cy="548640"/>
          </a:xfrm>
          <a:prstGeom prst="roundRect">
            <a:avLst>
              <a:gd name="adj" fmla="val 50000"/>
            </a:avLst>
          </a:prstGeom>
          <a:solidFill>
            <a:srgbClr val="24314F"/>
          </a:solidFill>
          <a:ln/>
        </p:spPr>
      </p:sp>
      <p:sp>
        <p:nvSpPr>
          <p:cNvPr id="42" name="Text 40"/>
          <p:cNvSpPr/>
          <p:nvPr/>
        </p:nvSpPr>
        <p:spPr>
          <a:xfrm>
            <a:off x="8065008" y="548640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Fichier XML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9756648" y="5486400"/>
            <a:ext cx="164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962C"/>
                </a:solidFill>
              </a:rPr>
              <a:t>→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9921240" y="5486400"/>
            <a:ext cx="1691640" cy="548640"/>
          </a:xfrm>
          <a:prstGeom prst="roundRect">
            <a:avLst>
              <a:gd name="adj" fmla="val 50000"/>
            </a:avLst>
          </a:prstGeom>
          <a:solidFill>
            <a:srgbClr val="C9962C"/>
          </a:solidFill>
          <a:ln/>
        </p:spPr>
      </p:sp>
      <p:sp>
        <p:nvSpPr>
          <p:cNvPr id="45" name="Text 43"/>
          <p:cNvSpPr/>
          <p:nvPr/>
        </p:nvSpPr>
        <p:spPr>
          <a:xfrm>
            <a:off x="9921240" y="548640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C33"/>
                </a:solidFill>
              </a:rPr>
              <a:t>Validation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Générateur de code Java à partir de schémas XML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9902952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</a:rPr>
              <a:t>Résultats des tests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2"/>
                </a:solidFill>
              </a:rPr>
              <a:t>Le code généré produit exactement le XML attendu, validé formellement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F7F7F5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148840"/>
            <a:ext cx="548640" cy="548640"/>
          </a:xfrm>
          <a:prstGeom prst="ellipse">
            <a:avLst/>
          </a:prstGeom>
          <a:solidFill>
            <a:srgbClr val="2E7D4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48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✓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288036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</a:rPr>
              <a:t>Génération réussie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3474720"/>
            <a:ext cx="2971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A3242"/>
                </a:solidFill>
              </a:rPr>
              <a:t>Livre.java et Bibliotheque.java sont produits automatiquement à partir de bibliotheque.xsd.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80560" y="187452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F7F7F5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2148840"/>
            <a:ext cx="548640" cy="548640"/>
          </a:xfrm>
          <a:prstGeom prst="ellipse">
            <a:avLst/>
          </a:prstGeom>
          <a:solidFill>
            <a:srgbClr val="2E7D4F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2148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✓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754880" y="288036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</a:rPr>
              <a:t>Reproduction fidèle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54880" y="3474720"/>
            <a:ext cx="2971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A3242"/>
                </a:solidFill>
              </a:rPr>
              <a:t>TestGenerateur recrée, avec l'API générée, le fichier XML à 3 livres du sujet — résultat identique, structure pour structure.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321040" y="187452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F7F7F5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95360" y="2148840"/>
            <a:ext cx="548640" cy="548640"/>
          </a:xfrm>
          <a:prstGeom prst="ellipse">
            <a:avLst/>
          </a:prstGeom>
          <a:solidFill>
            <a:srgbClr val="2E7D4F"/>
          </a:solidFill>
          <a:ln/>
        </p:spPr>
      </p:sp>
      <p:sp>
        <p:nvSpPr>
          <p:cNvPr id="16" name="Text 14"/>
          <p:cNvSpPr/>
          <p:nvPr/>
        </p:nvSpPr>
        <p:spPr>
          <a:xfrm>
            <a:off x="8595360" y="2148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✓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595360" y="288036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</a:rPr>
              <a:t>Validation XSD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595360" y="3474720"/>
            <a:ext cx="2971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A3242"/>
                </a:solidFill>
              </a:rPr>
              <a:t>ValidateXml confirme formellement (javax.xml.validation) que le fichier produit est VALIDE par rapport au schéma.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Générateur de code Java à partir de schémas XML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902952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</a:rPr>
              <a:t>Captures d'écran — le point de départ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472"/>
                </a:solidFill>
              </a:rPr>
              <a:t>Le schéma bibliotheque.xsd tel qu'il a été codé et utilisé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2665839" y="1545336"/>
            <a:ext cx="6829842" cy="46817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3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8000"/>
              </a:srgbClr>
            </a:outerShdw>
          </a:effectLst>
        </p:spPr>
      </p:sp>
      <p:pic>
        <p:nvPicPr>
          <p:cNvPr id="5" name="Image 0" descr="assets/shot_xs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20703" y="1600200"/>
            <a:ext cx="6720114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Générateur de code Java à partir de schémas XML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9902952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7a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</a:rPr>
              <a:t>Captures d'écran — le cœur du générateur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472"/>
                </a:solidFill>
              </a:rPr>
              <a:t>XsdParser.java (lecture du XSD) et JavaCodeGenerator.java (écriture du code)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82165" y="1545336"/>
            <a:ext cx="5436471" cy="46817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3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8000"/>
              </a:srgbClr>
            </a:outerShdw>
          </a:effectLst>
        </p:spPr>
      </p:sp>
      <p:pic>
        <p:nvPicPr>
          <p:cNvPr id="5" name="Image 0" descr="assets/shot_pars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7029" y="1600200"/>
            <a:ext cx="5326743" cy="4572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071616" y="1910633"/>
            <a:ext cx="5596128" cy="395113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3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8000"/>
              </a:srgbClr>
            </a:outerShdw>
          </a:effectLst>
        </p:spPr>
      </p:sp>
      <p:pic>
        <p:nvPicPr>
          <p:cNvPr id="7" name="Image 1" descr="assets/shot_generat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965497"/>
            <a:ext cx="5486400" cy="384140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Générateur de code Java à partir de schémas XML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9902952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7b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</a:rPr>
              <a:t>Captures d'écran — génération en direct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472"/>
                </a:solidFill>
              </a:rPr>
              <a:t>Exécution réelle : génération, test, puis validation XSD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85216" y="2139017"/>
            <a:ext cx="10991088" cy="376868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3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8000"/>
              </a:srgbClr>
            </a:outerShdw>
          </a:effectLst>
        </p:spPr>
      </p:sp>
      <p:pic>
        <p:nvPicPr>
          <p:cNvPr id="5" name="Image 0" descr="assets/shot_terminal_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193881"/>
            <a:ext cx="10881360" cy="365895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1722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B6472"/>
                </a:solidFill>
              </a:rPr>
              <a:t>Les trois commandes s'enchaînent : xsdgen.Main → TestGenerateur → ValidateXml, avec le message final « VALIDE ».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Générateur de code Java à partir de schémas XML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9902952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7c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</a:rPr>
              <a:t>Captures d'écran — le code généré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472"/>
                </a:solidFill>
              </a:rPr>
              <a:t>Bibliotheque.java et Livre.java, produits automatiquement par le générateur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55840" y="1545336"/>
            <a:ext cx="5289119" cy="46817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3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8000"/>
              </a:srgbClr>
            </a:outerShdw>
          </a:effectLst>
        </p:spPr>
      </p:sp>
      <p:pic>
        <p:nvPicPr>
          <p:cNvPr id="5" name="Image 0" descr="assets/shot_bibliotheque_jav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704" y="1600200"/>
            <a:ext cx="5179391" cy="4572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52878" y="1545336"/>
            <a:ext cx="4833604" cy="46817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3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8000"/>
              </a:srgbClr>
            </a:outerShdw>
          </a:effectLst>
        </p:spPr>
      </p:sp>
      <p:pic>
        <p:nvPicPr>
          <p:cNvPr id="7" name="Image 1" descr="assets/shot_livre_jav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7742" y="1600200"/>
            <a:ext cx="4723876" cy="45720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Générateur de code Java à partir de schémas XML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9902952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7d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</a:rPr>
              <a:t>Captures d'écran — le résultat final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472"/>
                </a:solidFill>
              </a:rPr>
              <a:t>bibliotheque_generee.xml — identique au fichier attendu par le sujet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2505456" y="1941455"/>
            <a:ext cx="7150608" cy="416380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3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8000"/>
              </a:srgbClr>
            </a:outerShdw>
          </a:effectLst>
        </p:spPr>
      </p:sp>
      <p:pic>
        <p:nvPicPr>
          <p:cNvPr id="5" name="Image 0" descr="assets/shot_xml_resu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0" y="1996319"/>
            <a:ext cx="7040880" cy="405408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Générateur de code Java à partir de schémas XML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9902952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7e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</a:rPr>
              <a:t>Limites et perspectives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2"/>
                </a:solidFill>
              </a:rPr>
              <a:t>Un périmètre volontairement restreint, avec des extensions naturelles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94960" cy="4160520"/>
          </a:xfrm>
          <a:prstGeom prst="roundRect">
            <a:avLst>
              <a:gd name="adj" fmla="val 2637"/>
            </a:avLst>
          </a:prstGeom>
          <a:solidFill>
            <a:srgbClr val="F7F7F5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20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0432E"/>
                </a:solidFill>
              </a:rPr>
              <a:t>LIMITES ASSUMÉES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233172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2A3242"/>
                </a:solidFill>
              </a:rPr>
              <a:t>•  Pas de xs:choice ni xs:all — uniquement xs:sequence
</a:t>
            </a:r>
            <a:endParaRPr lang="en-US" sz="13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2A3242"/>
                </a:solidFill>
              </a:rPr>
              <a:t>•  Pas de xs:attribute — uniquement les éléments enfants
</a:t>
            </a:r>
            <a:endParaRPr lang="en-US" sz="13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2A3242"/>
                </a:solidFill>
              </a:rPr>
              <a:t>•  Pas d'import/include entre plusieurs fichiers XSD
</a:t>
            </a:r>
            <a:endParaRPr lang="en-US" sz="13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2A3242"/>
                </a:solidFill>
              </a:rPr>
              <a:t>•  Pas d'héritage de types complexes (extension/restriction)
</a:t>
            </a:r>
            <a:endParaRPr lang="en-US" sz="13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2A3242"/>
                </a:solidFill>
              </a:rPr>
              <a:t>•  Pluriel des listes = nom + "s" (heuristique simple)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63640" y="1737360"/>
            <a:ext cx="5257800" cy="4160520"/>
          </a:xfrm>
          <a:prstGeom prst="roundRect">
            <a:avLst>
              <a:gd name="adj" fmla="val 2637"/>
            </a:avLst>
          </a:prstGeom>
          <a:solidFill>
            <a:srgbClr val="F1F7F1"/>
          </a:solidFill>
          <a:ln w="12700">
            <a:solidFill>
              <a:srgbClr val="CFE3C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0" y="1920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7D4F"/>
                </a:solidFill>
              </a:rPr>
              <a:t>PISTES D'AMÉLIORATION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37960" y="2331720"/>
            <a:ext cx="47548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2A3242"/>
                </a:solidFill>
              </a:rPr>
              <a:t>•  Support de xs:choice et xs:all
</a:t>
            </a:r>
            <a:endParaRPr lang="en-US" sz="13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2A3242"/>
                </a:solidFill>
              </a:rPr>
              <a:t>•  Lecture des xs:attribute
</a:t>
            </a:r>
            <a:endParaRPr lang="en-US" sz="13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2A3242"/>
                </a:solidFill>
              </a:rPr>
              <a:t>•  Résolution d'import/include multi-fichiers
</a:t>
            </a:r>
            <a:endParaRPr lang="en-US" sz="13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2A3242"/>
                </a:solidFill>
              </a:rPr>
              <a:t>•  Héritage de types (extension/restriction)
</a:t>
            </a:r>
            <a:endParaRPr lang="en-US" sz="13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2A3242"/>
                </a:solidFill>
              </a:rPr>
              <a:t>•  Règles de pluriel plus robustes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Générateur de code Java à partir de schémas XML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902952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4572000" cy="4572000"/>
          </a:xfrm>
          <a:prstGeom prst="ellipse">
            <a:avLst/>
          </a:prstGeom>
          <a:solidFill>
            <a:srgbClr val="111C33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8288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Conclusion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2697480"/>
            <a:ext cx="7863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D7DEEA"/>
                </a:solidFill>
              </a:rPr>
              <a:t>Le générateur répond entièrement au sujet : des règles de correspondance XSD → Java claires, un code Java généré automatiquement, et un fichier XML recréé à l'identique, validé formellement par rapport au schéma.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4343400"/>
            <a:ext cx="2743200" cy="0"/>
          </a:xfrm>
          <a:prstGeom prst="line">
            <a:avLst/>
          </a:prstGeom>
          <a:noFill/>
          <a:ln w="19050">
            <a:solidFill>
              <a:srgbClr val="C996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5720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C77A"/>
                </a:solidFill>
              </a:rPr>
              <a:t>Merci de votre attention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5120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AB4C6"/>
                </a:solidFill>
              </a:rPr>
              <a:t>Questions 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Générateur de code Java à partir de schémas XML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902952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2026-07-16T09:52:55Z</dcterms:created>
  <dcterms:modified xsi:type="dcterms:W3CDTF">2026-07-16T09:52:55Z</dcterms:modified>
</cp:coreProperties>
</file>